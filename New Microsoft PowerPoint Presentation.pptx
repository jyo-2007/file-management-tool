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7"/>
  </p:notesMasterIdLst>
  <p:sldIdLst>
    <p:sldId id="256" r:id="rId2"/>
    <p:sldId id="257" r:id="rId3"/>
    <p:sldId id="258" r:id="rId4"/>
    <p:sldId id="259" r:id="rId5"/>
    <p:sldId id="260" r:id="rId6"/>
    <p:sldId id="261" r:id="rId7"/>
    <p:sldId id="262" r:id="rId8"/>
    <p:sldId id="265" r:id="rId9"/>
    <p:sldId id="268" r:id="rId10"/>
    <p:sldId id="270" r:id="rId11"/>
    <p:sldId id="271" r:id="rId12"/>
    <p:sldId id="266" r:id="rId13"/>
    <p:sldId id="272" r:id="rId14"/>
    <p:sldId id="264"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4660"/>
  </p:normalViewPr>
  <p:slideViewPr>
    <p:cSldViewPr snapToGrid="0">
      <p:cViewPr>
        <p:scale>
          <a:sx n="75" d="100"/>
          <a:sy n="75" d="100"/>
        </p:scale>
        <p:origin x="144" y="40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59755C-75EC-4A65-BD3E-DC6F2CB8CD46}"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8BE1B-F988-4A11-92F4-7C4757DDD01F}" type="slidenum">
              <a:rPr lang="en-IN" smtClean="0"/>
              <a:t>‹#›</a:t>
            </a:fld>
            <a:endParaRPr lang="en-IN"/>
          </a:p>
        </p:txBody>
      </p:sp>
    </p:spTree>
    <p:extLst>
      <p:ext uri="{BB962C8B-B14F-4D97-AF65-F5344CB8AC3E}">
        <p14:creationId xmlns:p14="http://schemas.microsoft.com/office/powerpoint/2010/main" val="283430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68BE1B-F988-4A11-92F4-7C4757DDD01F}" type="slidenum">
              <a:rPr lang="en-IN" smtClean="0"/>
              <a:t>12</a:t>
            </a:fld>
            <a:endParaRPr lang="en-IN"/>
          </a:p>
        </p:txBody>
      </p:sp>
    </p:spTree>
    <p:extLst>
      <p:ext uri="{BB962C8B-B14F-4D97-AF65-F5344CB8AC3E}">
        <p14:creationId xmlns:p14="http://schemas.microsoft.com/office/powerpoint/2010/main" val="36815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57D875-D7E0-4A7A-B9B9-922C5CA204F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1462470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57D875-D7E0-4A7A-B9B9-922C5CA204F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1826321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57D875-D7E0-4A7A-B9B9-922C5CA204F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3333877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4044557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57D875-D7E0-4A7A-B9B9-922C5CA204F8}"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1353960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57D875-D7E0-4A7A-B9B9-922C5CA204F8}"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2623084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B57D875-D7E0-4A7A-B9B9-922C5CA204F8}"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540558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944486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176235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1814471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711509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54011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57D875-D7E0-4A7A-B9B9-922C5CA204F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616789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B57D875-D7E0-4A7A-B9B9-922C5CA204F8}"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983844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B57D875-D7E0-4A7A-B9B9-922C5CA204F8}"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321854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57D875-D7E0-4A7A-B9B9-922C5CA204F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3518883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57D875-D7E0-4A7A-B9B9-922C5CA204F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743FB77-EE47-433C-8B38-3C0FD22D9C44}" type="slidenum">
              <a:rPr lang="en-IN" smtClean="0"/>
              <a:t>‹#›</a:t>
            </a:fld>
            <a:endParaRPr lang="en-IN"/>
          </a:p>
        </p:txBody>
      </p:sp>
    </p:spTree>
    <p:extLst>
      <p:ext uri="{BB962C8B-B14F-4D97-AF65-F5344CB8AC3E}">
        <p14:creationId xmlns:p14="http://schemas.microsoft.com/office/powerpoint/2010/main" val="234917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B57D875-D7E0-4A7A-B9B9-922C5CA204F8}" type="datetimeFigureOut">
              <a:rPr lang="en-IN" smtClean="0"/>
              <a:t>01-05-2025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743FB77-EE47-433C-8B38-3C0FD22D9C44}" type="slidenum">
              <a:rPr lang="en-IN" smtClean="0"/>
              <a:t>‹#›</a:t>
            </a:fld>
            <a:endParaRPr lang="en-IN"/>
          </a:p>
        </p:txBody>
      </p:sp>
    </p:spTree>
    <p:extLst>
      <p:ext uri="{BB962C8B-B14F-4D97-AF65-F5344CB8AC3E}">
        <p14:creationId xmlns:p14="http://schemas.microsoft.com/office/powerpoint/2010/main" val="126164490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nlinegdb.com/9RknpJAnCw"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A7C66-FA8D-EE63-01E3-17FAE45F6D51}"/>
              </a:ext>
            </a:extLst>
          </p:cNvPr>
          <p:cNvSpPr>
            <a:spLocks noGrp="1"/>
          </p:cNvSpPr>
          <p:nvPr>
            <p:ph type="ctrTitle"/>
          </p:nvPr>
        </p:nvSpPr>
        <p:spPr>
          <a:xfrm>
            <a:off x="1751012" y="0"/>
            <a:ext cx="8689976" cy="2783393"/>
          </a:xfrm>
        </p:spPr>
        <p:txBody>
          <a:bodyPr>
            <a:normAutofit fontScale="90000"/>
          </a:bodyPr>
          <a:lstStyle/>
          <a:p>
            <a:r>
              <a:rPr lang="en-IN" sz="4000" dirty="0">
                <a:latin typeface="Times New Roman" panose="02020603050405020304" pitchFamily="18" charset="0"/>
                <a:cs typeface="Times New Roman" panose="02020603050405020304" pitchFamily="18" charset="0"/>
              </a:rPr>
              <a:t>NBKR INSTITUTE OF SCIENCE AND TECHNOLOGY</a:t>
            </a: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r>
              <a:rPr lang="en-IN" sz="5300" dirty="0">
                <a:solidFill>
                  <a:schemeClr val="bg2">
                    <a:lumMod val="75000"/>
                  </a:schemeClr>
                </a:solidFill>
                <a:latin typeface="Times New Roman" panose="02020603050405020304" pitchFamily="18" charset="0"/>
                <a:cs typeface="Times New Roman" panose="02020603050405020304" pitchFamily="18" charset="0"/>
              </a:rPr>
              <a:t>FILE MANAGEMENT TOOLS</a:t>
            </a:r>
          </a:p>
        </p:txBody>
      </p:sp>
      <p:sp>
        <p:nvSpPr>
          <p:cNvPr id="3" name="Subtitle 2">
            <a:extLst>
              <a:ext uri="{FF2B5EF4-FFF2-40B4-BE49-F238E27FC236}">
                <a16:creationId xmlns:a16="http://schemas.microsoft.com/office/drawing/2014/main" id="{CED88ED5-43E3-9B3D-5679-D163A5D3E293}"/>
              </a:ext>
            </a:extLst>
          </p:cNvPr>
          <p:cNvSpPr>
            <a:spLocks noGrp="1"/>
          </p:cNvSpPr>
          <p:nvPr>
            <p:ph type="subTitle" idx="1"/>
          </p:nvPr>
        </p:nvSpPr>
        <p:spPr>
          <a:xfrm>
            <a:off x="1751011" y="3818374"/>
            <a:ext cx="14919203" cy="1439425"/>
          </a:xfrm>
        </p:spPr>
        <p:txBody>
          <a:bodyPr>
            <a:normAutofit fontScale="70000" lnSpcReduction="20000"/>
          </a:bodyPr>
          <a:lstStyle/>
          <a:p>
            <a:r>
              <a:rPr lang="en-IN" dirty="0"/>
              <a:t>             </a:t>
            </a:r>
          </a:p>
          <a:p>
            <a:r>
              <a:rPr lang="en-IN" dirty="0"/>
              <a:t>           </a:t>
            </a:r>
            <a:r>
              <a:rPr lang="en-IN" dirty="0">
                <a:solidFill>
                  <a:schemeClr val="tx1"/>
                </a:solidFill>
                <a:latin typeface="Times New Roman" panose="02020603050405020304" pitchFamily="18" charset="0"/>
                <a:cs typeface="Times New Roman" panose="02020603050405020304" pitchFamily="18" charset="0"/>
              </a:rPr>
              <a:t>SUBMITTED BY : G.JYOTHSNA REDDY(24KB1A05K5)</a:t>
            </a:r>
          </a:p>
          <a:p>
            <a:r>
              <a:rPr lang="en-IN" dirty="0">
                <a:solidFill>
                  <a:schemeClr val="tx1"/>
                </a:solidFill>
                <a:latin typeface="Times New Roman" panose="02020603050405020304" pitchFamily="18" charset="0"/>
                <a:cs typeface="Times New Roman" panose="02020603050405020304" pitchFamily="18" charset="0"/>
              </a:rPr>
              <a:t>                            S.JASMITHA(24KB1A05JV)</a:t>
            </a:r>
          </a:p>
          <a:p>
            <a:r>
              <a:rPr lang="en-IN" dirty="0">
                <a:solidFill>
                  <a:schemeClr val="tx1"/>
                </a:solidFill>
                <a:latin typeface="Times New Roman" panose="02020603050405020304" pitchFamily="18" charset="0"/>
                <a:cs typeface="Times New Roman" panose="02020603050405020304" pitchFamily="18" charset="0"/>
              </a:rPr>
              <a:t>                                   GURU NIKITHA(24KB1A05LV)</a:t>
            </a: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8039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AE6F9-9BAC-2DF3-36FA-2DE91A733BFD}"/>
              </a:ext>
            </a:extLst>
          </p:cNvPr>
          <p:cNvSpPr>
            <a:spLocks noGrp="1"/>
          </p:cNvSpPr>
          <p:nvPr>
            <p:ph type="title"/>
          </p:nvPr>
        </p:nvSpPr>
        <p:spPr>
          <a:xfrm>
            <a:off x="-2612571" y="618517"/>
            <a:ext cx="11123525"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A82080C5-5CC6-7919-B735-C66DC58B80DA}"/>
              </a:ext>
            </a:extLst>
          </p:cNvPr>
          <p:cNvSpPr>
            <a:spLocks noGrp="1" noChangeArrowheads="1"/>
          </p:cNvSpPr>
          <p:nvPr>
            <p:ph sz="quarter" idx="13"/>
          </p:nvPr>
        </p:nvSpPr>
        <p:spPr bwMode="auto">
          <a:xfrm>
            <a:off x="913774" y="2540264"/>
            <a:ext cx="10790711"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Font typeface="Wingdings" panose="05000000000000000000" pitchFamily="2" charset="2"/>
              <a:buChar char="Ø"/>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This project simulates a basic File Allocation Table (FAT)-like file management system.</a:t>
            </a:r>
          </a:p>
          <a:p>
            <a:pPr eaLnBrk="0" fontAlgn="base" hangingPunct="0">
              <a:lnSpc>
                <a:spcPct val="100000"/>
              </a:lnSpc>
              <a:spcBef>
                <a:spcPct val="0"/>
              </a:spcBef>
              <a:spcAft>
                <a:spcPct val="0"/>
              </a:spcAft>
              <a:buClrTx/>
              <a:buFont typeface="Wingdings" panose="05000000000000000000" pitchFamily="2" charset="2"/>
              <a:buChar char="Ø"/>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Ø"/>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It allows users to create, delete, rename, and search for files using an array or linked list structure.</a:t>
            </a:r>
          </a:p>
          <a:p>
            <a:pPr marL="0" indent="0" eaLnBrk="0" fontAlgn="base" hangingPunct="0">
              <a:lnSpc>
                <a:spcPct val="100000"/>
              </a:lnSpc>
              <a:spcBef>
                <a:spcPct val="0"/>
              </a:spcBef>
              <a:spcAft>
                <a:spcPct val="0"/>
              </a:spcAft>
              <a:buClrTx/>
              <a:buNone/>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Ø"/>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The system mimics how file systems manage file metadata and storage blocks.</a:t>
            </a:r>
          </a:p>
          <a:p>
            <a:pPr eaLnBrk="0" fontAlgn="base" hangingPunct="0">
              <a:lnSpc>
                <a:spcPct val="100000"/>
              </a:lnSpc>
              <a:spcBef>
                <a:spcPct val="0"/>
              </a:spcBef>
              <a:spcAft>
                <a:spcPct val="0"/>
              </a:spcAft>
              <a:buClrTx/>
              <a:buFont typeface="Wingdings" panose="05000000000000000000" pitchFamily="2" charset="2"/>
              <a:buChar char="Ø"/>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Ø"/>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It provides a simplified model to understand file operations and memory allocation.</a:t>
            </a:r>
          </a:p>
          <a:p>
            <a:pPr eaLnBrk="0" fontAlgn="base" hangingPunct="0">
              <a:lnSpc>
                <a:spcPct val="100000"/>
              </a:lnSpc>
              <a:spcBef>
                <a:spcPct val="0"/>
              </a:spcBef>
              <a:spcAft>
                <a:spcPct val="0"/>
              </a:spcAft>
              <a:buClrTx/>
              <a:buFont typeface="Wingdings" panose="05000000000000000000" pitchFamily="2" charset="2"/>
              <a:buChar char="Ø"/>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It demonstrates internal file handling mechanisms without relying on a real file system.</a:t>
            </a:r>
          </a:p>
          <a:p>
            <a:pPr marL="0" indent="0" eaLnBrk="0" fontAlgn="base" hangingPunct="0">
              <a:lnSpc>
                <a:spcPct val="100000"/>
              </a:lnSpc>
              <a:spcBef>
                <a:spcPct val="0"/>
              </a:spcBef>
              <a:spcAft>
                <a:spcPct val="0"/>
              </a:spcAft>
              <a:buClrTx/>
              <a:buNone/>
            </a:pPr>
            <a:r>
              <a:rPr lang="en-US" sz="1600" dirty="0">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Ø"/>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8139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1E00F6-259C-F0EC-BB5E-7095EE705337}"/>
              </a:ext>
            </a:extLst>
          </p:cNvPr>
          <p:cNvSpPr>
            <a:spLocks noGrp="1"/>
          </p:cNvSpPr>
          <p:nvPr>
            <p:ph type="title"/>
          </p:nvPr>
        </p:nvSpPr>
        <p:spPr>
          <a:xfrm>
            <a:off x="913776" y="618517"/>
            <a:ext cx="2784018"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OBJECTIVE</a:t>
            </a:r>
          </a:p>
        </p:txBody>
      </p:sp>
      <p:sp>
        <p:nvSpPr>
          <p:cNvPr id="6" name="Rectangle 1">
            <a:extLst>
              <a:ext uri="{FF2B5EF4-FFF2-40B4-BE49-F238E27FC236}">
                <a16:creationId xmlns:a16="http://schemas.microsoft.com/office/drawing/2014/main" id="{6BC4FAA5-CBE9-72BB-3536-DAE91FDD51C5}"/>
              </a:ext>
            </a:extLst>
          </p:cNvPr>
          <p:cNvSpPr>
            <a:spLocks noGrp="1" noChangeArrowheads="1"/>
          </p:cNvSpPr>
          <p:nvPr>
            <p:ph sz="quarter" idx="13"/>
          </p:nvPr>
        </p:nvSpPr>
        <p:spPr bwMode="auto">
          <a:xfrm>
            <a:off x="-70338" y="2663375"/>
            <a:ext cx="12364216"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develop a simplified file system that simulates basic file operations like create, delete, rename, and search.</a:t>
            </a:r>
          </a:p>
          <a:p>
            <a:pPr marL="0" indent="0" eaLnBrk="0" fontAlgn="base" hangingPunct="0">
              <a:lnSpc>
                <a:spcPct val="100000"/>
              </a:lnSpc>
              <a:spcBef>
                <a:spcPct val="0"/>
              </a:spcBef>
              <a:spcAft>
                <a:spcPct val="0"/>
              </a:spcAft>
              <a:buClrTx/>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implement file management using data structures such as arrays or linked lists.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mimic the behavior of a File Allocation Table (FAT) for educational and experimental purposes.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understanding of memory allocation and directory management techniques in operating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None/>
            </a:pPr>
            <a:endParaRPr lang="en-US" sz="16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0235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80CC-05B0-0A78-9078-8EE12A2CC942}"/>
              </a:ext>
            </a:extLst>
          </p:cNvPr>
          <p:cNvSpPr>
            <a:spLocks noGrp="1"/>
          </p:cNvSpPr>
          <p:nvPr>
            <p:ph type="title"/>
          </p:nvPr>
        </p:nvSpPr>
        <p:spPr>
          <a:xfrm>
            <a:off x="-2592475" y="618517"/>
            <a:ext cx="12480053"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HOW TO CREATE A FILE ?</a:t>
            </a:r>
          </a:p>
        </p:txBody>
      </p:sp>
      <p:sp>
        <p:nvSpPr>
          <p:cNvPr id="3" name="Content Placeholder 2">
            <a:extLst>
              <a:ext uri="{FF2B5EF4-FFF2-40B4-BE49-F238E27FC236}">
                <a16:creationId xmlns:a16="http://schemas.microsoft.com/office/drawing/2014/main" id="{21004053-343D-276F-47FA-4685EA470EF6}"/>
              </a:ext>
            </a:extLst>
          </p:cNvPr>
          <p:cNvSpPr>
            <a:spLocks noGrp="1"/>
          </p:cNvSpPr>
          <p:nvPr>
            <p:ph sz="quarter" idx="13"/>
          </p:nvPr>
        </p:nvSpPr>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To create a file, prompt the user to enter a file name.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Check if the file already exists in the file list (array or linked list).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If not, allocate a new entry in the structure and store the file name with  A unique identifier or index.</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Update the file list to reflect the new file, simulating how FAT tracks file metadata.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27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A2917-EAFF-AD76-1811-E1718F46AF47}"/>
              </a:ext>
            </a:extLst>
          </p:cNvPr>
          <p:cNvSpPr>
            <a:spLocks noGrp="1"/>
          </p:cNvSpPr>
          <p:nvPr>
            <p:ph type="title"/>
          </p:nvPr>
        </p:nvSpPr>
        <p:spPr>
          <a:xfrm>
            <a:off x="-2888673" y="618517"/>
            <a:ext cx="13338959" cy="216796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HOW TO DELETE A FILE?</a:t>
            </a:r>
          </a:p>
        </p:txBody>
      </p:sp>
      <p:sp>
        <p:nvSpPr>
          <p:cNvPr id="4" name="Rectangle 1">
            <a:extLst>
              <a:ext uri="{FF2B5EF4-FFF2-40B4-BE49-F238E27FC236}">
                <a16:creationId xmlns:a16="http://schemas.microsoft.com/office/drawing/2014/main" id="{B2E58471-3D29-739A-D0F9-0ACF39B8175A}"/>
              </a:ext>
            </a:extLst>
          </p:cNvPr>
          <p:cNvSpPr>
            <a:spLocks noGrp="1" noChangeArrowheads="1"/>
          </p:cNvSpPr>
          <p:nvPr>
            <p:ph sz="quarter" idx="13"/>
          </p:nvPr>
        </p:nvSpPr>
        <p:spPr bwMode="auto">
          <a:xfrm>
            <a:off x="0" y="2463320"/>
            <a:ext cx="12975089"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Font typeface="Wingdings" panose="05000000000000000000" pitchFamily="2" charset="2"/>
              <a:buChar char="Ø"/>
            </a:pPr>
            <a:endParaRPr lang="en-US" altLang="en-US" sz="1800" cap="none"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delete a file, prompt the user to enter the file name.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the file list (array or linked list) for a matching file entry.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found, remove the file entry from the list and free the associated space.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400" cap="none"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the structure to reflect the deletion, simulating how FAT marks file blocks as available.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581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E689-C56E-7380-DAAF-2C0445BDB0F1}"/>
              </a:ext>
            </a:extLst>
          </p:cNvPr>
          <p:cNvSpPr>
            <a:spLocks noGrp="1"/>
          </p:cNvSpPr>
          <p:nvPr>
            <p:ph type="title"/>
          </p:nvPr>
        </p:nvSpPr>
        <p:spPr>
          <a:xfrm>
            <a:off x="-3611301" y="618517"/>
            <a:ext cx="14889527"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How to rename a file?</a:t>
            </a:r>
          </a:p>
        </p:txBody>
      </p:sp>
      <p:sp>
        <p:nvSpPr>
          <p:cNvPr id="4" name="Rectangle 1">
            <a:extLst>
              <a:ext uri="{FF2B5EF4-FFF2-40B4-BE49-F238E27FC236}">
                <a16:creationId xmlns:a16="http://schemas.microsoft.com/office/drawing/2014/main" id="{98CDA063-F424-C992-5EE2-A36586508A16}"/>
              </a:ext>
            </a:extLst>
          </p:cNvPr>
          <p:cNvSpPr>
            <a:spLocks noGrp="1" noChangeArrowheads="1"/>
          </p:cNvSpPr>
          <p:nvPr>
            <p:ph sz="quarter" idx="13"/>
          </p:nvPr>
        </p:nvSpPr>
        <p:spPr bwMode="auto">
          <a:xfrm>
            <a:off x="219920" y="2370854"/>
            <a:ext cx="12232474"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rename a file, prompt the user to enter the current file name and the new name.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the file list (array or linked list) for the existing file.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found, check that the new name does not already exist to avoid duplicates.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the file name in the structure to the new name, simulating a rename operation in a FAT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6617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02133-D3F1-0DF6-284A-2CC7F3CC6B9D}"/>
              </a:ext>
            </a:extLst>
          </p:cNvPr>
          <p:cNvSpPr>
            <a:spLocks noGrp="1"/>
          </p:cNvSpPr>
          <p:nvPr>
            <p:ph type="title"/>
          </p:nvPr>
        </p:nvSpPr>
        <p:spPr>
          <a:xfrm>
            <a:off x="913776" y="618517"/>
            <a:ext cx="5840316"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HOW TO SEARCH A FILE?</a:t>
            </a:r>
          </a:p>
        </p:txBody>
      </p:sp>
      <p:sp>
        <p:nvSpPr>
          <p:cNvPr id="3" name="Content Placeholder 2">
            <a:extLst>
              <a:ext uri="{FF2B5EF4-FFF2-40B4-BE49-F238E27FC236}">
                <a16:creationId xmlns:a16="http://schemas.microsoft.com/office/drawing/2014/main" id="{6E87DC08-E995-0DF4-1043-E9C6B7B17702}"/>
              </a:ext>
            </a:extLst>
          </p:cNvPr>
          <p:cNvSpPr>
            <a:spLocks noGrp="1"/>
          </p:cNvSpPr>
          <p:nvPr>
            <p:ph sz="quarter" idx="13"/>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Traverse the array or linked list that stores file metadata (name, location, etc.).</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Compare each file's name with the target name using string comparison.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a match is found, return the file's details or its index/node.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the end is reached without a match, report the file as not found.</a:t>
            </a:r>
          </a:p>
          <a:p>
            <a:pPr marL="0" indent="0">
              <a:buNone/>
            </a:pPr>
            <a:endParaRPr lang="en-IN" dirty="0">
              <a:latin typeface="Sylfaen" panose="010A0502050306030303" pitchFamily="18" charset="0"/>
            </a:endParaRPr>
          </a:p>
        </p:txBody>
      </p:sp>
    </p:spTree>
    <p:extLst>
      <p:ext uri="{BB962C8B-B14F-4D97-AF65-F5344CB8AC3E}">
        <p14:creationId xmlns:p14="http://schemas.microsoft.com/office/powerpoint/2010/main" val="2640512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3A45-F4F5-5087-B902-63C797A0C392}"/>
              </a:ext>
            </a:extLst>
          </p:cNvPr>
          <p:cNvSpPr>
            <a:spLocks noGrp="1"/>
          </p:cNvSpPr>
          <p:nvPr>
            <p:ph type="title"/>
          </p:nvPr>
        </p:nvSpPr>
        <p:spPr>
          <a:xfrm>
            <a:off x="-3923817" y="618517"/>
            <a:ext cx="12512232"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ADE4752F-F81A-6794-08D4-CB6043C17AC4}"/>
              </a:ext>
            </a:extLst>
          </p:cNvPr>
          <p:cNvSpPr>
            <a:spLocks noGrp="1"/>
          </p:cNvSpPr>
          <p:nvPr>
            <p:ph sz="quarter" idx="13"/>
          </p:nvPr>
        </p:nvSpPr>
        <p:spPr/>
        <p:txBody>
          <a:bodyPr>
            <a:normAutofit fontScale="9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Start the program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Initialize the linked list head as NULL and the next Start Block counter as 0.</a:t>
            </a:r>
          </a:p>
          <a:p>
            <a:pPr>
              <a:buNone/>
            </a:pPr>
            <a:r>
              <a:rPr lang="en-US" b="1" dirty="0">
                <a:latin typeface="Times New Roman" panose="02020603050405020304" pitchFamily="18" charset="0"/>
                <a:cs typeface="Times New Roman" panose="02020603050405020304" pitchFamily="18" charset="0"/>
              </a:rPr>
              <a:t>Display Menu Continuously (Loop)</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 a menu with options: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File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Delete File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Rename File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Search File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 Files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Exit</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992606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2877B-D704-CECC-01FA-D75252C39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4ED1A-A1C6-C3D8-8EB2-B964CA6A389F}"/>
              </a:ext>
            </a:extLst>
          </p:cNvPr>
          <p:cNvSpPr>
            <a:spLocks noGrp="1"/>
          </p:cNvSpPr>
          <p:nvPr>
            <p:ph type="title"/>
          </p:nvPr>
        </p:nvSpPr>
        <p:spPr>
          <a:xfrm>
            <a:off x="-3903497" y="0"/>
            <a:ext cx="12512232"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43DBB55C-3BEE-218E-EFD4-67B0FC69E5CA}"/>
              </a:ext>
            </a:extLst>
          </p:cNvPr>
          <p:cNvSpPr>
            <a:spLocks noGrp="1"/>
          </p:cNvSpPr>
          <p:nvPr>
            <p:ph sz="quarter" idx="13"/>
          </p:nvPr>
        </p:nvSpPr>
        <p:spPr>
          <a:xfrm>
            <a:off x="271507" y="1208946"/>
            <a:ext cx="10363826" cy="3424107"/>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Algorithm for Simple File Management System**</a:t>
            </a:r>
          </a:p>
          <a:p>
            <a:pPr marL="0" marR="0" lvl="0" indent="0" algn="l" defTabSz="914400" rtl="0" eaLnBrk="0" fontAlgn="base" latinLnBrk="0" hangingPunct="0">
              <a:lnSpc>
                <a:spcPct val="100000"/>
              </a:lnSpc>
              <a:spcBef>
                <a:spcPct val="0"/>
              </a:spcBef>
              <a:spcAft>
                <a:spcPct val="0"/>
              </a:spcAft>
              <a:buClrTx/>
              <a:buSzTx/>
              <a:buFontTx/>
              <a:buNone/>
              <a:tabLst/>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+1. **Initialization**</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Initialize a pointer `head` to `NULL` to represent the start of the file list.</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Initialize an integer `</a:t>
            </a:r>
            <a:r>
              <a:rPr lang="en-US" sz="1200" dirty="0" err="1">
                <a:latin typeface="Times New Roman" panose="02020603050405020304" pitchFamily="18" charset="0"/>
                <a:cs typeface="Times New Roman" panose="02020603050405020304" pitchFamily="18" charset="0"/>
              </a:rPr>
              <a:t>nextStartBlock</a:t>
            </a:r>
            <a:r>
              <a:rPr lang="en-US" sz="1200" dirty="0">
                <a:latin typeface="Times New Roman" panose="02020603050405020304" pitchFamily="18" charset="0"/>
                <a:cs typeface="Times New Roman" panose="02020603050405020304" pitchFamily="18" charset="0"/>
              </a:rPr>
              <a:t>` to `0` to simulate a block allocation counter.</a:t>
            </a:r>
          </a:p>
          <a:p>
            <a:pPr marL="0" marR="0" lvl="0" indent="0" algn="l" defTabSz="914400" rtl="0" eaLnBrk="0" fontAlgn="base" latinLnBrk="0" hangingPunct="0">
              <a:lnSpc>
                <a:spcPct val="100000"/>
              </a:lnSpc>
              <a:spcBef>
                <a:spcPct val="0"/>
              </a:spcBef>
              <a:spcAft>
                <a:spcPct val="0"/>
              </a:spcAft>
              <a:buClrTx/>
              <a:buSzTx/>
              <a:buFontTx/>
              <a:buNone/>
              <a:tabLst/>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2. **Main Loop**</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Display the menu:</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1. Create File  </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2. Delete File  </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3. Rename File  </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4. Search File  </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5. Display Files  </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6. Exit  </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Accept user input for choice.</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Use a switch-case to execute the corresponding operation.</a:t>
            </a:r>
          </a:p>
          <a:p>
            <a:pPr marL="0" marR="0" lvl="0" indent="0" algn="l" defTabSz="914400" rtl="0" eaLnBrk="0" fontAlgn="base" latinLnBrk="0" hangingPunct="0">
              <a:lnSpc>
                <a:spcPct val="100000"/>
              </a:lnSpc>
              <a:spcBef>
                <a:spcPct val="0"/>
              </a:spcBef>
              <a:spcAft>
                <a:spcPct val="0"/>
              </a:spcAft>
              <a:buClrTx/>
              <a:buSzTx/>
              <a:buFontTx/>
              <a:buNone/>
              <a:tabLst/>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3. **Create File Operation**</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Input: File name and size.</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Traverse the linked list:</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 If a file with the same name exists, print an error and return.</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Allocate memory for a new file.</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Set file properties: name, size, and `</a:t>
            </a:r>
            <a:r>
              <a:rPr lang="en-US" sz="1200" dirty="0" err="1">
                <a:latin typeface="Times New Roman" panose="02020603050405020304" pitchFamily="18" charset="0"/>
                <a:cs typeface="Times New Roman" panose="02020603050405020304" pitchFamily="18" charset="0"/>
              </a:rPr>
              <a:t>startBlock</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nextStartBlock</a:t>
            </a:r>
            <a:r>
              <a:rPr lang="en-US" sz="12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Insert the new file at the beginning of the linked list.</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Update `</a:t>
            </a:r>
            <a:r>
              <a:rPr lang="en-US" sz="1200" dirty="0" err="1">
                <a:latin typeface="Times New Roman" panose="02020603050405020304" pitchFamily="18" charset="0"/>
                <a:cs typeface="Times New Roman" panose="02020603050405020304" pitchFamily="18" charset="0"/>
              </a:rPr>
              <a:t>nextStartBlock</a:t>
            </a:r>
            <a:r>
              <a:rPr lang="en-US" sz="1200" dirty="0">
                <a:latin typeface="Times New Roman" panose="02020603050405020304" pitchFamily="18" charset="0"/>
                <a:cs typeface="Times New Roman" panose="02020603050405020304" pitchFamily="18" charset="0"/>
              </a:rPr>
              <a:t> += size`.</a:t>
            </a: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 Print success message.</a:t>
            </a:r>
          </a:p>
        </p:txBody>
      </p:sp>
    </p:spTree>
    <p:extLst>
      <p:ext uri="{BB962C8B-B14F-4D97-AF65-F5344CB8AC3E}">
        <p14:creationId xmlns:p14="http://schemas.microsoft.com/office/powerpoint/2010/main" val="4274902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21434F-F571-E0C0-873A-E50340ACC5FF}"/>
              </a:ext>
            </a:extLst>
          </p:cNvPr>
          <p:cNvSpPr txBox="1"/>
          <p:nvPr/>
        </p:nvSpPr>
        <p:spPr>
          <a:xfrm>
            <a:off x="314960" y="296218"/>
            <a:ext cx="11308080" cy="5909310"/>
          </a:xfrm>
          <a:prstGeom prst="rect">
            <a:avLst/>
          </a:prstGeom>
          <a:noFill/>
        </p:spPr>
        <p:txBody>
          <a:bodyPr wrap="square">
            <a:spAutoFit/>
          </a:bodyPr>
          <a:lstStyle/>
          <a:p>
            <a:endParaRPr lang="en-US" dirty="0"/>
          </a:p>
          <a:p>
            <a:r>
              <a:rPr lang="en-US" dirty="0"/>
              <a:t>### 4. **Delete File Operation**</a:t>
            </a:r>
          </a:p>
          <a:p>
            <a:r>
              <a:rPr lang="en-US" dirty="0"/>
              <a:t>- Input: File name.</a:t>
            </a:r>
          </a:p>
          <a:p>
            <a:r>
              <a:rPr lang="en-US" dirty="0"/>
              <a:t>- Traverse the list to find the file.</a:t>
            </a:r>
          </a:p>
          <a:p>
            <a:r>
              <a:rPr lang="en-US" dirty="0"/>
              <a:t>- If found:</a:t>
            </a:r>
          </a:p>
          <a:p>
            <a:r>
              <a:rPr lang="en-US" dirty="0"/>
              <a:t>  - Remove it from the list.</a:t>
            </a:r>
          </a:p>
          <a:p>
            <a:r>
              <a:rPr lang="en-US" dirty="0"/>
              <a:t>  - Free the allocated memory.</a:t>
            </a:r>
          </a:p>
          <a:p>
            <a:r>
              <a:rPr lang="en-US" dirty="0"/>
              <a:t>  - Print success message.</a:t>
            </a:r>
          </a:p>
          <a:p>
            <a:r>
              <a:rPr lang="en-US" dirty="0"/>
              <a:t>- If not found:</a:t>
            </a:r>
          </a:p>
          <a:p>
            <a:r>
              <a:rPr lang="en-US" dirty="0"/>
              <a:t>  - Print "File not found" message.</a:t>
            </a:r>
          </a:p>
          <a:p>
            <a:endParaRPr lang="en-US" dirty="0"/>
          </a:p>
          <a:p>
            <a:r>
              <a:rPr lang="en-US" dirty="0"/>
              <a:t>---</a:t>
            </a:r>
          </a:p>
          <a:p>
            <a:endParaRPr lang="en-US" dirty="0"/>
          </a:p>
          <a:p>
            <a:r>
              <a:rPr lang="en-US" dirty="0"/>
              <a:t>### 5. **Rename File Operation**</a:t>
            </a:r>
          </a:p>
          <a:p>
            <a:r>
              <a:rPr lang="en-US" dirty="0"/>
              <a:t>- Input: Current name and new name.</a:t>
            </a:r>
          </a:p>
          <a:p>
            <a:r>
              <a:rPr lang="en-US" dirty="0"/>
              <a:t>- Traverse the list:</a:t>
            </a:r>
          </a:p>
          <a:p>
            <a:r>
              <a:rPr lang="en-US" dirty="0"/>
              <a:t>  - If a file with the new name already exists, abort with error.</a:t>
            </a:r>
          </a:p>
          <a:p>
            <a:r>
              <a:rPr lang="en-US" dirty="0"/>
              <a:t>  - If file with the current name is found, update its name.</a:t>
            </a:r>
          </a:p>
          <a:p>
            <a:r>
              <a:rPr lang="en-US" dirty="0"/>
              <a:t>- Print success or error message.</a:t>
            </a:r>
          </a:p>
          <a:p>
            <a:endParaRPr lang="en-US" dirty="0"/>
          </a:p>
          <a:p>
            <a:r>
              <a:rPr lang="en-US" dirty="0"/>
              <a:t> </a:t>
            </a:r>
            <a:endParaRPr lang="en-IN" dirty="0"/>
          </a:p>
        </p:txBody>
      </p:sp>
    </p:spTree>
    <p:extLst>
      <p:ext uri="{BB962C8B-B14F-4D97-AF65-F5344CB8AC3E}">
        <p14:creationId xmlns:p14="http://schemas.microsoft.com/office/powerpoint/2010/main" val="2820700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C54236-A516-05A8-B741-148D3299B186}"/>
              </a:ext>
            </a:extLst>
          </p:cNvPr>
          <p:cNvSpPr txBox="1"/>
          <p:nvPr/>
        </p:nvSpPr>
        <p:spPr>
          <a:xfrm>
            <a:off x="853440" y="889844"/>
            <a:ext cx="9530080" cy="4801314"/>
          </a:xfrm>
          <a:prstGeom prst="rect">
            <a:avLst/>
          </a:prstGeom>
          <a:noFill/>
        </p:spPr>
        <p:txBody>
          <a:bodyPr wrap="square">
            <a:spAutoFit/>
          </a:bodyPr>
          <a:lstStyle/>
          <a:p>
            <a:r>
              <a:rPr lang="en-US" dirty="0"/>
              <a:t>### 6. **Search File Operation**</a:t>
            </a:r>
          </a:p>
          <a:p>
            <a:r>
              <a:rPr lang="en-US" dirty="0"/>
              <a:t>- Input: File name.</a:t>
            </a:r>
          </a:p>
          <a:p>
            <a:r>
              <a:rPr lang="en-US" dirty="0"/>
              <a:t>- Traverse the list:</a:t>
            </a:r>
          </a:p>
          <a:p>
            <a:r>
              <a:rPr lang="en-US" dirty="0"/>
              <a:t>  - If found, display file details.</a:t>
            </a:r>
          </a:p>
          <a:p>
            <a:r>
              <a:rPr lang="en-US" dirty="0"/>
              <a:t>  - If not found, print message.</a:t>
            </a:r>
          </a:p>
          <a:p>
            <a:endParaRPr lang="en-US" dirty="0"/>
          </a:p>
          <a:p>
            <a:r>
              <a:rPr lang="en-US" dirty="0"/>
              <a:t>---</a:t>
            </a:r>
          </a:p>
          <a:p>
            <a:endParaRPr lang="en-US" dirty="0"/>
          </a:p>
          <a:p>
            <a:r>
              <a:rPr lang="en-US" dirty="0"/>
              <a:t>### 7. **Display All Files**</a:t>
            </a:r>
          </a:p>
          <a:p>
            <a:r>
              <a:rPr lang="en-US" dirty="0"/>
              <a:t>- If the list is empty, print "No files."</a:t>
            </a:r>
          </a:p>
          <a:p>
            <a:r>
              <a:rPr lang="en-US" dirty="0"/>
              <a:t>- Otherwise, traverse the list and print each file’s name, size, and start block.</a:t>
            </a:r>
          </a:p>
          <a:p>
            <a:endParaRPr lang="en-US" dirty="0"/>
          </a:p>
          <a:p>
            <a:r>
              <a:rPr lang="en-US" dirty="0"/>
              <a:t>---</a:t>
            </a:r>
          </a:p>
          <a:p>
            <a:endParaRPr lang="en-US" dirty="0"/>
          </a:p>
          <a:p>
            <a:r>
              <a:rPr lang="en-US" dirty="0"/>
              <a:t>### 8. **Exit Program**</a:t>
            </a:r>
          </a:p>
          <a:p>
            <a:r>
              <a:rPr lang="en-US" dirty="0"/>
              <a:t>- Free all allocated memory using a cleanup function.</a:t>
            </a:r>
          </a:p>
          <a:p>
            <a:r>
              <a:rPr lang="en-US" dirty="0"/>
              <a:t>- Exit the loop.</a:t>
            </a:r>
          </a:p>
        </p:txBody>
      </p:sp>
    </p:spTree>
    <p:extLst>
      <p:ext uri="{BB962C8B-B14F-4D97-AF65-F5344CB8AC3E}">
        <p14:creationId xmlns:p14="http://schemas.microsoft.com/office/powerpoint/2010/main" val="2739210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3AEDA-D7BA-8768-360A-34E9DC0C3E7E}"/>
              </a:ext>
            </a:extLst>
          </p:cNvPr>
          <p:cNvSpPr>
            <a:spLocks noGrp="1"/>
          </p:cNvSpPr>
          <p:nvPr>
            <p:ph type="title"/>
          </p:nvPr>
        </p:nvSpPr>
        <p:spPr>
          <a:xfrm>
            <a:off x="913776" y="618517"/>
            <a:ext cx="5406002" cy="1596177"/>
          </a:xfrm>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Source code</a:t>
            </a:r>
          </a:p>
        </p:txBody>
      </p:sp>
      <p:sp>
        <p:nvSpPr>
          <p:cNvPr id="3" name="Content Placeholder 2">
            <a:extLst>
              <a:ext uri="{FF2B5EF4-FFF2-40B4-BE49-F238E27FC236}">
                <a16:creationId xmlns:a16="http://schemas.microsoft.com/office/drawing/2014/main" id="{51163065-6428-75D4-7332-4BEE9CE3DB44}"/>
              </a:ext>
            </a:extLst>
          </p:cNvPr>
          <p:cNvSpPr>
            <a:spLocks noGrp="1"/>
          </p:cNvSpPr>
          <p:nvPr>
            <p:ph sz="quarter" idx="13"/>
          </p:nvPr>
        </p:nvSpPr>
        <p:spPr/>
        <p:txBody>
          <a:bodyPr>
            <a:normAutofit/>
          </a:bodyPr>
          <a:lstStyle/>
          <a:p>
            <a:r>
              <a:rPr lang="en-IN" sz="3600" dirty="0">
                <a:hlinkClick r:id="rId3"/>
              </a:rPr>
              <a:t>https://onlinegdb.com/9RknpJAnCw</a:t>
            </a:r>
            <a:endParaRPr lang="en-IN" sz="3600" dirty="0"/>
          </a:p>
          <a:p>
            <a:pPr marL="0" indent="0">
              <a:buNone/>
            </a:pPr>
            <a:endParaRPr lang="en-IN" sz="3600" dirty="0"/>
          </a:p>
        </p:txBody>
      </p:sp>
    </p:spTree>
    <p:extLst>
      <p:ext uri="{BB962C8B-B14F-4D97-AF65-F5344CB8AC3E}">
        <p14:creationId xmlns:p14="http://schemas.microsoft.com/office/powerpoint/2010/main" val="236639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F1C10F-FC02-D3DB-FEC7-575929FA3C6F}"/>
              </a:ext>
            </a:extLst>
          </p:cNvPr>
          <p:cNvPicPr>
            <a:picLocks noChangeAspect="1"/>
          </p:cNvPicPr>
          <p:nvPr/>
        </p:nvPicPr>
        <p:blipFill>
          <a:blip r:embed="rId2"/>
          <a:stretch>
            <a:fillRect/>
          </a:stretch>
        </p:blipFill>
        <p:spPr>
          <a:xfrm>
            <a:off x="1026160" y="1571624"/>
            <a:ext cx="8260080" cy="4646295"/>
          </a:xfrm>
          <a:prstGeom prst="rect">
            <a:avLst/>
          </a:prstGeom>
        </p:spPr>
      </p:pic>
      <p:sp>
        <p:nvSpPr>
          <p:cNvPr id="6" name="TextBox 5">
            <a:extLst>
              <a:ext uri="{FF2B5EF4-FFF2-40B4-BE49-F238E27FC236}">
                <a16:creationId xmlns:a16="http://schemas.microsoft.com/office/drawing/2014/main" id="{C99EA624-0E3A-4655-F8C5-C693F4C6D37C}"/>
              </a:ext>
            </a:extLst>
          </p:cNvPr>
          <p:cNvSpPr txBox="1"/>
          <p:nvPr/>
        </p:nvSpPr>
        <p:spPr>
          <a:xfrm>
            <a:off x="1452880" y="785614"/>
            <a:ext cx="609600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280618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FC50E-7E9C-F825-4831-B31ADCFE0051}"/>
              </a:ext>
            </a:extLst>
          </p:cNvPr>
          <p:cNvSpPr>
            <a:spLocks noGrp="1"/>
          </p:cNvSpPr>
          <p:nvPr>
            <p:ph type="title"/>
          </p:nvPr>
        </p:nvSpPr>
        <p:spPr/>
        <p:txBody>
          <a:bodyPr/>
          <a:lstStyle/>
          <a:p>
            <a:r>
              <a:rPr lang="en-IN" dirty="0">
                <a:solidFill>
                  <a:schemeClr val="bg2">
                    <a:lumMod val="75000"/>
                  </a:schemeClr>
                </a:solidFill>
                <a:latin typeface="Times New Roman" panose="02020603050405020304" pitchFamily="18" charset="0"/>
                <a:cs typeface="Times New Roman" panose="02020603050405020304" pitchFamily="18" charset="0"/>
              </a:rPr>
              <a:t>CONCLUSION</a:t>
            </a:r>
            <a:endParaRPr lang="en-IN" dirty="0"/>
          </a:p>
        </p:txBody>
      </p:sp>
      <p:sp>
        <p:nvSpPr>
          <p:cNvPr id="3" name="Content Placeholder 2">
            <a:extLst>
              <a:ext uri="{FF2B5EF4-FFF2-40B4-BE49-F238E27FC236}">
                <a16:creationId xmlns:a16="http://schemas.microsoft.com/office/drawing/2014/main" id="{93DD6725-37EA-9FC3-A8C5-BFCE89D66CDE}"/>
              </a:ext>
            </a:extLst>
          </p:cNvPr>
          <p:cNvSpPr>
            <a:spLocks noGrp="1"/>
          </p:cNvSpPr>
          <p:nvPr>
            <p:ph sz="quarter" idx="13"/>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File Management Tool that simulates a FAT-like file system, implementing operations such as create, delete, rename, and search using arrays or linked lists provides valuable insight into basic file system architecture. Arrays offer simplicity and faster access times but are limited in scalability, while linked lists allow dynamic memory management at the cost of slower traversal. Each data structure presents trade-offs that influence performance and flexibility, making the choice dependent on specific application requirements. Overall, this simulation helps users understand how fundamental file operations are managed at a low level within an operating system.</a:t>
            </a:r>
          </a:p>
          <a:p>
            <a:endParaRPr lang="en-IN" dirty="0"/>
          </a:p>
        </p:txBody>
      </p:sp>
    </p:spTree>
    <p:extLst>
      <p:ext uri="{BB962C8B-B14F-4D97-AF65-F5344CB8AC3E}">
        <p14:creationId xmlns:p14="http://schemas.microsoft.com/office/powerpoint/2010/main" val="3302803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29CE-749D-EF01-A062-6DE7770D5859}"/>
              </a:ext>
            </a:extLst>
          </p:cNvPr>
          <p:cNvSpPr>
            <a:spLocks noGrp="1"/>
          </p:cNvSpPr>
          <p:nvPr>
            <p:ph type="title"/>
          </p:nvPr>
        </p:nvSpPr>
        <p:spPr/>
        <p:txBody>
          <a:bodyPr>
            <a:normAutofit/>
          </a:bodyPr>
          <a:lstStyle/>
          <a:p>
            <a:r>
              <a:rPr lang="en-IN" sz="9600" dirty="0">
                <a:solidFill>
                  <a:schemeClr val="bg2">
                    <a:lumMod val="75000"/>
                  </a:schemeClr>
                </a:solidFill>
                <a:latin typeface="Times New Roman" panose="02020603050405020304" pitchFamily="18" charset="0"/>
                <a:cs typeface="Times New Roman" panose="02020603050405020304" pitchFamily="18" charset="0"/>
              </a:rPr>
              <a:t>Thank you</a:t>
            </a:r>
          </a:p>
        </p:txBody>
      </p:sp>
      <p:sp>
        <p:nvSpPr>
          <p:cNvPr id="3" name="Text Placeholder 2">
            <a:extLst>
              <a:ext uri="{FF2B5EF4-FFF2-40B4-BE49-F238E27FC236}">
                <a16:creationId xmlns:a16="http://schemas.microsoft.com/office/drawing/2014/main" id="{BCF9761D-5ECA-464C-6DD4-873D2F757368}"/>
              </a:ext>
            </a:extLst>
          </p:cNvPr>
          <p:cNvSpPr>
            <a:spLocks noGrp="1"/>
          </p:cNvSpPr>
          <p:nvPr>
            <p:ph type="body" sz="half" idx="2"/>
          </p:nvPr>
        </p:nvSpPr>
        <p:spPr/>
        <p:txBody>
          <a:bodyPr/>
          <a:lstStyle/>
          <a:p>
            <a:endParaRPr lang="en-IN"/>
          </a:p>
        </p:txBody>
      </p:sp>
    </p:spTree>
    <p:extLst>
      <p:ext uri="{BB962C8B-B14F-4D97-AF65-F5344CB8AC3E}">
        <p14:creationId xmlns:p14="http://schemas.microsoft.com/office/powerpoint/2010/main" val="92292205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Droplet</Template>
  <TotalTime>217</TotalTime>
  <Words>1069</Words>
  <Application>Microsoft Office PowerPoint</Application>
  <PresentationFormat>Widescreen</PresentationFormat>
  <Paragraphs>144</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Sylfaen</vt:lpstr>
      <vt:lpstr>Times New Roman</vt:lpstr>
      <vt:lpstr>Tw Cen MT</vt:lpstr>
      <vt:lpstr>Wingdings</vt:lpstr>
      <vt:lpstr>Droplet</vt:lpstr>
      <vt:lpstr>NBKR INSTITUTE OF SCIENCE AND TECHNOLOGY   FILE MANAGEMENT TOOLS</vt:lpstr>
      <vt:lpstr>INTRODUCTION</vt:lpstr>
      <vt:lpstr>OBJECTIVE</vt:lpstr>
      <vt:lpstr>HOW TO CREATE A FILE ?</vt:lpstr>
      <vt:lpstr>HOW TO DELETE A FILE?</vt:lpstr>
      <vt:lpstr>How to rename a file?</vt:lpstr>
      <vt:lpstr>HOW TO SEARCH A FILE?</vt:lpstr>
      <vt:lpstr>algorithm</vt:lpstr>
      <vt:lpstr>algorithm</vt:lpstr>
      <vt:lpstr>PowerPoint Presentation</vt:lpstr>
      <vt:lpstr>PowerPoint Presentation</vt:lpstr>
      <vt:lpstr>Source code</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jyothsna Gurunadham</dc:creator>
  <cp:lastModifiedBy>jyothsna Gurunadham</cp:lastModifiedBy>
  <cp:revision>3</cp:revision>
  <dcterms:created xsi:type="dcterms:W3CDTF">2025-04-30T14:33:08Z</dcterms:created>
  <dcterms:modified xsi:type="dcterms:W3CDTF">2025-05-01T07:01:21Z</dcterms:modified>
</cp:coreProperties>
</file>